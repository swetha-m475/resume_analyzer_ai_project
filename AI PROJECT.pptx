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1"/>
  </p:notesMasterIdLst>
  <p:handoutMasterIdLst>
    <p:handoutMasterId r:id="rId22"/>
  </p:handoutMasterIdLst>
  <p:sldIdLst>
    <p:sldId id="256" r:id="rId2"/>
    <p:sldId id="275" r:id="rId3"/>
    <p:sldId id="283" r:id="rId4"/>
    <p:sldId id="307" r:id="rId5"/>
    <p:sldId id="303" r:id="rId6"/>
    <p:sldId id="319" r:id="rId7"/>
    <p:sldId id="284" r:id="rId8"/>
    <p:sldId id="308" r:id="rId9"/>
    <p:sldId id="301" r:id="rId10"/>
    <p:sldId id="309" r:id="rId11"/>
    <p:sldId id="310" r:id="rId12"/>
    <p:sldId id="311" r:id="rId13"/>
    <p:sldId id="312" r:id="rId14"/>
    <p:sldId id="313" r:id="rId15"/>
    <p:sldId id="314" r:id="rId16"/>
    <p:sldId id="315" r:id="rId17"/>
    <p:sldId id="316" r:id="rId18"/>
    <p:sldId id="317" r:id="rId19"/>
    <p:sldId id="318" r:id="rId20"/>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214308-F0E3-4687-BC59-15A1703D4593}">
  <a:tblStyle styleId="{FE214308-F0E3-4687-BC59-15A1703D4593}"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94" autoAdjust="0"/>
  </p:normalViewPr>
  <p:slideViewPr>
    <p:cSldViewPr snapToGrid="0">
      <p:cViewPr varScale="1">
        <p:scale>
          <a:sx n="82" d="100"/>
          <a:sy n="82" d="100"/>
        </p:scale>
        <p:origin x="1474"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D3E99E-DB1F-A1AF-6170-7D08D4D6EFC8}"/>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203816B-874C-7E21-95DA-9D45E13DAE5C}"/>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720FD98A-E095-48C9-A810-43203C220A2F}" type="datetimeFigureOut">
              <a:rPr lang="en-IN" smtClean="0"/>
              <a:t>14-10-2026</a:t>
            </a:fld>
            <a:endParaRPr lang="en-IN"/>
          </a:p>
        </p:txBody>
      </p:sp>
      <p:sp>
        <p:nvSpPr>
          <p:cNvPr id="4" name="Footer Placeholder 3">
            <a:extLst>
              <a:ext uri="{FF2B5EF4-FFF2-40B4-BE49-F238E27FC236}">
                <a16:creationId xmlns:a16="http://schemas.microsoft.com/office/drawing/2014/main" id="{862F50F2-19DD-B8DB-56BE-4811983D61A0}"/>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BE6E6B5-8122-C896-6939-C04ADB535FB6}"/>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BAA371E-2DED-45A9-97CA-DC71AD54BD4D}" type="slidenum">
              <a:rPr lang="en-IN" smtClean="0"/>
              <a:t>‹#›</a:t>
            </a:fld>
            <a:endParaRPr lang="en-IN"/>
          </a:p>
        </p:txBody>
      </p:sp>
    </p:spTree>
    <p:extLst>
      <p:ext uri="{BB962C8B-B14F-4D97-AF65-F5344CB8AC3E}">
        <p14:creationId xmlns:p14="http://schemas.microsoft.com/office/powerpoint/2010/main" val="37018745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88b46264e5_3_2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g288b46264e5_3_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657327" y="242184"/>
            <a:ext cx="782934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body" idx="1"/>
          </p:nvPr>
        </p:nvSpPr>
        <p:spPr>
          <a:xfrm>
            <a:off x="299300" y="1571390"/>
            <a:ext cx="8639810" cy="20739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4" name="Google Shape;54;p8"/>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57327" y="242184"/>
            <a:ext cx="782934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657327" y="242184"/>
            <a:ext cx="782934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9"/>
        <p:cNvGrpSpPr/>
        <p:nvPr/>
      </p:nvGrpSpPr>
      <p:grpSpPr>
        <a:xfrm>
          <a:off x="0" y="0"/>
          <a:ext cx="0" cy="0"/>
          <a:chOff x="0" y="0"/>
          <a:chExt cx="0" cy="0"/>
        </a:xfrm>
      </p:grpSpPr>
      <p:sp>
        <p:nvSpPr>
          <p:cNvPr id="70" name="Google Shape;70;p11"/>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pic>
        <p:nvPicPr>
          <p:cNvPr id="45" name="Google Shape;45;p7"/>
          <p:cNvPicPr preferRelativeResize="0"/>
          <p:nvPr/>
        </p:nvPicPr>
        <p:blipFill rotWithShape="1">
          <a:blip r:embed="rId6">
            <a:alphaModFix/>
          </a:blip>
          <a:srcRect/>
          <a:stretch/>
        </p:blipFill>
        <p:spPr>
          <a:xfrm>
            <a:off x="0" y="0"/>
            <a:ext cx="9143999" cy="6857999"/>
          </a:xfrm>
          <a:prstGeom prst="rect">
            <a:avLst/>
          </a:prstGeom>
          <a:noFill/>
          <a:ln>
            <a:noFill/>
          </a:ln>
        </p:spPr>
      </p:pic>
      <p:sp>
        <p:nvSpPr>
          <p:cNvPr id="46" name="Google Shape;46;p7"/>
          <p:cNvSpPr txBox="1">
            <a:spLocks noGrp="1"/>
          </p:cNvSpPr>
          <p:nvPr>
            <p:ph type="title"/>
          </p:nvPr>
        </p:nvSpPr>
        <p:spPr>
          <a:xfrm>
            <a:off x="657327" y="242184"/>
            <a:ext cx="7829345" cy="51308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7"/>
          <p:cNvSpPr txBox="1">
            <a:spLocks noGrp="1"/>
          </p:cNvSpPr>
          <p:nvPr>
            <p:ph type="body" idx="1"/>
          </p:nvPr>
        </p:nvSpPr>
        <p:spPr>
          <a:xfrm>
            <a:off x="299300" y="1571390"/>
            <a:ext cx="8639810" cy="20739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8" name="Google Shape;48;p7"/>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76"/>
        <p:cNvGrpSpPr/>
        <p:nvPr/>
      </p:nvGrpSpPr>
      <p:grpSpPr>
        <a:xfrm>
          <a:off x="0" y="0"/>
          <a:ext cx="0" cy="0"/>
          <a:chOff x="0" y="0"/>
          <a:chExt cx="0" cy="0"/>
        </a:xfrm>
      </p:grpSpPr>
      <p:pic>
        <p:nvPicPr>
          <p:cNvPr id="77" name="Google Shape;77;p12"/>
          <p:cNvPicPr preferRelativeResize="0"/>
          <p:nvPr/>
        </p:nvPicPr>
        <p:blipFill rotWithShape="1">
          <a:blip r:embed="rId3">
            <a:alphaModFix/>
          </a:blip>
          <a:srcRect/>
          <a:stretch/>
        </p:blipFill>
        <p:spPr>
          <a:xfrm>
            <a:off x="0" y="0"/>
            <a:ext cx="2786062" cy="6857999"/>
          </a:xfrm>
          <a:prstGeom prst="rect">
            <a:avLst/>
          </a:prstGeom>
          <a:noFill/>
          <a:ln>
            <a:noFill/>
          </a:ln>
        </p:spPr>
      </p:pic>
      <p:sp>
        <p:nvSpPr>
          <p:cNvPr id="78" name="Google Shape;78;p12"/>
          <p:cNvSpPr txBox="1">
            <a:spLocks noGrp="1"/>
          </p:cNvSpPr>
          <p:nvPr>
            <p:ph type="title"/>
          </p:nvPr>
        </p:nvSpPr>
        <p:spPr>
          <a:xfrm>
            <a:off x="234950" y="1230099"/>
            <a:ext cx="8674100" cy="936154"/>
          </a:xfrm>
          <a:prstGeom prst="rect">
            <a:avLst/>
          </a:prstGeom>
          <a:noFill/>
          <a:ln>
            <a:noFill/>
          </a:ln>
        </p:spPr>
        <p:txBody>
          <a:bodyPr spcFirstLastPara="1" wrap="square" lIns="0" tIns="12700" rIns="0" bIns="0" anchor="t" anchorCtr="0">
            <a:spAutoFit/>
          </a:bodyPr>
          <a:lstStyle/>
          <a:p>
            <a:pPr marL="2852420" lvl="0" algn="ctr"/>
            <a:r>
              <a:rPr lang="en-IN" sz="2000" dirty="0"/>
              <a:t>CAREERROUTE AI: INTELLIGENT RESUME MATCHING, SKILL GAP LEARNING AND INTERVIEW ROUTE OPTIMIZE</a:t>
            </a:r>
            <a:endParaRPr lang="en-US" sz="2000" dirty="0"/>
          </a:p>
        </p:txBody>
      </p:sp>
      <p:sp>
        <p:nvSpPr>
          <p:cNvPr id="79" name="Google Shape;79;p12"/>
          <p:cNvSpPr txBox="1"/>
          <p:nvPr/>
        </p:nvSpPr>
        <p:spPr>
          <a:xfrm>
            <a:off x="3584499" y="2890475"/>
            <a:ext cx="5998362" cy="20390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a:ea typeface="Times New Roman"/>
                <a:cs typeface="Times New Roman"/>
                <a:sym typeface="Times New Roman"/>
              </a:rPr>
              <a:t>Team Members:</a:t>
            </a:r>
          </a:p>
          <a:p>
            <a:pPr marL="12700" marR="0" lvl="0" indent="0" algn="l" rtl="0">
              <a:lnSpc>
                <a:spcPct val="100000"/>
              </a:lnSpc>
              <a:spcBef>
                <a:spcPts val="0"/>
              </a:spcBef>
              <a:spcAft>
                <a:spcPts val="0"/>
              </a:spcAft>
              <a:buClr>
                <a:srgbClr val="000000"/>
              </a:buClr>
              <a:buSzPts val="2000"/>
              <a:buFont typeface="Arial"/>
              <a:buNone/>
            </a:pPr>
            <a:endParaRPr lang="en-US" sz="2000" b="1" dirty="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Clr>
                <a:srgbClr val="000000"/>
              </a:buClr>
              <a:buSzPts val="2000"/>
              <a:buFont typeface="Arial"/>
              <a:buNone/>
            </a:pPr>
            <a:r>
              <a:rPr lang="en-US" sz="2000" i="0" u="none" strike="noStrike" cap="none" dirty="0">
                <a:solidFill>
                  <a:schemeClr val="dk1"/>
                </a:solidFill>
                <a:latin typeface="Times New Roman"/>
                <a:ea typeface="Times New Roman"/>
                <a:cs typeface="Times New Roman"/>
                <a:sym typeface="Times New Roman"/>
              </a:rPr>
              <a:t>SWATHI M                   2303717610422125</a:t>
            </a:r>
          </a:p>
          <a:p>
            <a:pPr marL="12700" marR="0" lvl="0" indent="0" algn="l" rtl="0">
              <a:lnSpc>
                <a:spcPct val="100000"/>
              </a:lnSpc>
              <a:spcBef>
                <a:spcPts val="0"/>
              </a:spcBef>
              <a:spcAft>
                <a:spcPts val="0"/>
              </a:spcAft>
              <a:buClr>
                <a:srgbClr val="000000"/>
              </a:buClr>
              <a:buSzPts val="2000"/>
              <a:buFont typeface="Arial"/>
              <a:buNone/>
            </a:pPr>
            <a:endParaRPr lang="en-US" sz="2000" b="1" i="0" u="none" strike="noStrike" cap="none" dirty="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Clr>
                <a:srgbClr val="000000"/>
              </a:buClr>
              <a:buSzPts val="2000"/>
              <a:buFont typeface="Arial"/>
              <a:buNone/>
            </a:pPr>
            <a:r>
              <a:rPr lang="en-IN" sz="2000" dirty="0">
                <a:solidFill>
                  <a:schemeClr val="dk1"/>
                </a:solidFill>
                <a:latin typeface="Times New Roman"/>
                <a:ea typeface="Times New Roman"/>
                <a:cs typeface="Times New Roman"/>
                <a:sym typeface="Times New Roman"/>
              </a:rPr>
              <a:t>SWETHA M                   2303717610422126</a:t>
            </a:r>
          </a:p>
          <a:p>
            <a:pPr marL="355600" marR="0" lvl="0" indent="-179070" algn="l" rtl="0">
              <a:lnSpc>
                <a:spcPct val="100000"/>
              </a:lnSpc>
              <a:spcBef>
                <a:spcPts val="1425"/>
              </a:spcBef>
              <a:spcAft>
                <a:spcPts val="0"/>
              </a:spcAft>
              <a:buClr>
                <a:schemeClr val="dk1"/>
              </a:buClr>
              <a:buSzPts val="2000"/>
              <a:buFont typeface="Times New Roman"/>
              <a:buNone/>
            </a:pPr>
            <a:r>
              <a:rPr lang="en-IN" sz="2000" b="0" i="0" u="none" strike="noStrike" cap="none" dirty="0">
                <a:solidFill>
                  <a:schemeClr val="dk1"/>
                </a:solidFill>
                <a:latin typeface="Times New Roman"/>
                <a:ea typeface="Times New Roman"/>
                <a:cs typeface="Times New Roman"/>
                <a:sym typeface="Times New Roman"/>
              </a:rPr>
              <a:t>                       </a:t>
            </a:r>
            <a:endParaRPr sz="2000" b="0" i="0" u="none" strike="noStrike" cap="none" dirty="0">
              <a:solidFill>
                <a:schemeClr val="dk1"/>
              </a:solidFill>
              <a:latin typeface="Times New Roman"/>
              <a:ea typeface="Times New Roman"/>
              <a:cs typeface="Times New Roman"/>
              <a:sym typeface="Times New Roman"/>
            </a:endParaRPr>
          </a:p>
        </p:txBody>
      </p:sp>
      <p:sp>
        <p:nvSpPr>
          <p:cNvPr id="2" name="Slide Number Placeholder 1">
            <a:extLst>
              <a:ext uri="{FF2B5EF4-FFF2-40B4-BE49-F238E27FC236}">
                <a16:creationId xmlns:a16="http://schemas.microsoft.com/office/drawing/2014/main" id="{7744DB70-2E81-3411-31DF-321CE9A758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A349-C96B-EAA3-838E-B781BF6B04F5}"/>
              </a:ext>
            </a:extLst>
          </p:cNvPr>
          <p:cNvSpPr>
            <a:spLocks noGrp="1"/>
          </p:cNvSpPr>
          <p:nvPr>
            <p:ph type="title"/>
          </p:nvPr>
        </p:nvSpPr>
        <p:spPr>
          <a:xfrm>
            <a:off x="370050" y="327708"/>
            <a:ext cx="7829345" cy="384721"/>
          </a:xfrm>
        </p:spPr>
        <p:txBody>
          <a:bodyPr/>
          <a:lstStyle/>
          <a:p>
            <a:r>
              <a:rPr lang="en-US" sz="2500" dirty="0"/>
              <a:t>INTRODUCTION</a:t>
            </a:r>
            <a:endParaRPr lang="en-IN" sz="2500" dirty="0"/>
          </a:p>
        </p:txBody>
      </p:sp>
      <p:sp>
        <p:nvSpPr>
          <p:cNvPr id="3" name="Text Placeholder 2">
            <a:extLst>
              <a:ext uri="{FF2B5EF4-FFF2-40B4-BE49-F238E27FC236}">
                <a16:creationId xmlns:a16="http://schemas.microsoft.com/office/drawing/2014/main" id="{B5E62E9E-DFE2-DA7B-B149-EC63AB1F9EB1}"/>
              </a:ext>
            </a:extLst>
          </p:cNvPr>
          <p:cNvSpPr>
            <a:spLocks noGrp="1"/>
          </p:cNvSpPr>
          <p:nvPr>
            <p:ph type="body" idx="1"/>
          </p:nvPr>
        </p:nvSpPr>
        <p:spPr>
          <a:xfrm>
            <a:off x="-54116" y="1361638"/>
            <a:ext cx="8969516" cy="8186857"/>
          </a:xfrm>
        </p:spPr>
        <p:txBody>
          <a:bodyPr/>
          <a:lstStyle/>
          <a:p>
            <a:pPr algn="just"/>
            <a:r>
              <a:rPr lang="en-IN" sz="1900" b="1" dirty="0"/>
              <a:t>    CAREERROUTE AI: intelligent resume matching, skill gap learning and interview route optimize </a:t>
            </a:r>
            <a:r>
              <a:rPr lang="en-IN" sz="1900" dirty="0"/>
              <a:t>Project is an intelligent application that helps candidates understand how well their resumes match a particular job description and what they need to improve to prepare for the role.</a:t>
            </a:r>
          </a:p>
          <a:p>
            <a:pPr algn="just"/>
            <a:endParaRPr lang="en-IN" sz="1900" dirty="0"/>
          </a:p>
          <a:p>
            <a:pPr algn="just"/>
            <a:r>
              <a:rPr lang="en-IN" sz="1900" dirty="0"/>
              <a:t>    The system combines Artificial Intelligence, Natural Language Processing, and search   algorithms to perform three major tasks:</a:t>
            </a:r>
          </a:p>
          <a:p>
            <a:pPr algn="just"/>
            <a:endParaRPr lang="en-IN" sz="1900" dirty="0"/>
          </a:p>
          <a:p>
            <a:pPr marL="514350" lvl="0" indent="-285750" algn="just">
              <a:buFont typeface="Arial" panose="020B0604020202020204" pitchFamily="34" charset="0"/>
              <a:buChar char="•"/>
            </a:pPr>
            <a:r>
              <a:rPr lang="en-IN" sz="1900" b="1" dirty="0"/>
              <a:t>Resume–Job Matching:</a:t>
            </a:r>
            <a:r>
              <a:rPr lang="en-IN" sz="1900" dirty="0"/>
              <a:t> Compares resumes with job descriptions and ranks candidates based on their estimated match.</a:t>
            </a:r>
          </a:p>
          <a:p>
            <a:pPr marL="514350" lvl="0" indent="-285750" algn="just">
              <a:buFont typeface="Arial" panose="020B0604020202020204" pitchFamily="34" charset="0"/>
              <a:buChar char="•"/>
            </a:pPr>
            <a:r>
              <a:rPr lang="en-IN" sz="1900" b="1" dirty="0"/>
              <a:t>Skill Gap and Career Path Analysis:</a:t>
            </a:r>
            <a:r>
              <a:rPr lang="en-IN" sz="1900" dirty="0"/>
              <a:t> Identifies missing skills and suggests a learning order with estimated study duration.</a:t>
            </a:r>
          </a:p>
          <a:p>
            <a:pPr marL="514350" lvl="0" indent="-285750" algn="just">
              <a:buFont typeface="Arial" panose="020B0604020202020204" pitchFamily="34" charset="0"/>
              <a:buChar char="•"/>
            </a:pPr>
            <a:r>
              <a:rPr lang="en-IN" sz="1900" b="1" dirty="0"/>
              <a:t>Interview Route Optimization:</a:t>
            </a:r>
            <a:r>
              <a:rPr lang="en-IN" sz="1900" dirty="0"/>
              <a:t> Finds an efficient order for visiting multiple interview locations.</a:t>
            </a:r>
          </a:p>
          <a:p>
            <a:pPr marL="514350" lvl="0" indent="-285750" algn="just">
              <a:buFont typeface="Arial" panose="020B0604020202020204" pitchFamily="34" charset="0"/>
              <a:buChar char="•"/>
            </a:pPr>
            <a:endParaRPr lang="en-IN" sz="1900" dirty="0"/>
          </a:p>
          <a:p>
            <a:pPr algn="just"/>
            <a:r>
              <a:rPr lang="en-IN" sz="1900" dirty="0"/>
              <a:t>     The application brings resume analysis, career preparation, and interview travel planning     together in one platform.</a:t>
            </a:r>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US" sz="1900" dirty="0"/>
          </a:p>
          <a:p>
            <a:pPr algn="just"/>
            <a:endParaRPr lang="en-IN" sz="1900" dirty="0"/>
          </a:p>
        </p:txBody>
      </p:sp>
      <p:sp>
        <p:nvSpPr>
          <p:cNvPr id="5" name="Slide Number Placeholder 4">
            <a:extLst>
              <a:ext uri="{FF2B5EF4-FFF2-40B4-BE49-F238E27FC236}">
                <a16:creationId xmlns:a16="http://schemas.microsoft.com/office/drawing/2014/main" id="{BB88029A-5534-E005-02F0-D331FF452A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4233643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247360-EF94-F3A1-8DD9-AA50D0E508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TextBox 3">
            <a:extLst>
              <a:ext uri="{FF2B5EF4-FFF2-40B4-BE49-F238E27FC236}">
                <a16:creationId xmlns:a16="http://schemas.microsoft.com/office/drawing/2014/main" id="{8BECC2DD-2F77-BFA0-C85A-1D9CB4671F63}"/>
              </a:ext>
            </a:extLst>
          </p:cNvPr>
          <p:cNvSpPr txBox="1"/>
          <p:nvPr/>
        </p:nvSpPr>
        <p:spPr>
          <a:xfrm>
            <a:off x="457200" y="1315016"/>
            <a:ext cx="8527670" cy="5062924"/>
          </a:xfrm>
          <a:prstGeom prst="rect">
            <a:avLst/>
          </a:prstGeom>
          <a:noFill/>
        </p:spPr>
        <p:txBody>
          <a:bodyPr wrap="square">
            <a:spAutoFit/>
          </a:bodyPr>
          <a:lstStyle/>
          <a:p>
            <a:pPr algn="just"/>
            <a:r>
              <a:rPr lang="en-IN" sz="1900" b="1" dirty="0">
                <a:latin typeface="Times New Roman" panose="02020603050405020304" pitchFamily="18" charset="0"/>
                <a:cs typeface="Times New Roman" panose="02020603050405020304" pitchFamily="18" charset="0"/>
              </a:rPr>
              <a:t>Problem Statement:</a:t>
            </a:r>
          </a:p>
          <a:p>
            <a:pPr algn="just"/>
            <a:endParaRPr lang="en-IN" sz="1900" b="1"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Manually comparing resumes with job descriptions is time-consuming.</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Candidates may find it difficult to identify missing skills and the right learning order.</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Planning study duration without considering skill prerequisites can be inefficient.</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Visiting multiple interview locations without route optimization may increase travel distance.</a:t>
            </a:r>
          </a:p>
          <a:p>
            <a:pPr lvl="0" algn="just"/>
            <a:endParaRPr lang="en-IN" sz="1900" dirty="0">
              <a:latin typeface="Times New Roman" panose="02020603050405020304" pitchFamily="18" charset="0"/>
              <a:cs typeface="Times New Roman" panose="02020603050405020304" pitchFamily="18" charset="0"/>
            </a:endParaRPr>
          </a:p>
          <a:p>
            <a:pPr algn="just"/>
            <a:r>
              <a:rPr lang="en-IN" sz="1900" b="1" dirty="0">
                <a:latin typeface="Times New Roman" panose="02020603050405020304" pitchFamily="18" charset="0"/>
                <a:cs typeface="Times New Roman" panose="02020603050405020304" pitchFamily="18" charset="0"/>
              </a:rPr>
              <a:t>Objectives:</a:t>
            </a:r>
          </a:p>
          <a:p>
            <a:pPr algn="just"/>
            <a:endParaRPr lang="en-IN" sz="1900" b="1"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Automatically compare resumes with job descriptions and rank multiple resumes.</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Identify matching skills, missing skills, and possible resume improvements.</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Generate a prerequisite-based learning path and estimate study duration.</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Optimize interview visit sequences using geographic distance and search algorithms.</a:t>
            </a:r>
          </a:p>
          <a:p>
            <a:pPr marL="285750" lvl="0"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Present all results through a single, user-friendly application.</a:t>
            </a:r>
          </a:p>
        </p:txBody>
      </p:sp>
      <p:sp>
        <p:nvSpPr>
          <p:cNvPr id="5" name="TextBox 4">
            <a:extLst>
              <a:ext uri="{FF2B5EF4-FFF2-40B4-BE49-F238E27FC236}">
                <a16:creationId xmlns:a16="http://schemas.microsoft.com/office/drawing/2014/main" id="{00383CB4-B562-3D94-3016-77C6C4E6B716}"/>
              </a:ext>
            </a:extLst>
          </p:cNvPr>
          <p:cNvSpPr txBox="1"/>
          <p:nvPr/>
        </p:nvSpPr>
        <p:spPr>
          <a:xfrm>
            <a:off x="273430" y="332973"/>
            <a:ext cx="6863970" cy="477054"/>
          </a:xfrm>
          <a:prstGeom prst="rect">
            <a:avLst/>
          </a:prstGeom>
          <a:noFill/>
        </p:spPr>
        <p:txBody>
          <a:bodyPr wrap="square">
            <a:spAutoFit/>
          </a:bodyPr>
          <a:lstStyle/>
          <a:p>
            <a:r>
              <a:rPr lang="en-US" sz="2500" b="1" dirty="0">
                <a:latin typeface="Times New Roman" panose="02020603050405020304" pitchFamily="18" charset="0"/>
                <a:cs typeface="Times New Roman" panose="02020603050405020304" pitchFamily="18" charset="0"/>
              </a:rPr>
              <a:t>PROBLEM STATEMENT AND OBJECTIVE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434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542D06-A51E-8965-90DF-135519B2CA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8" name="TextBox 7">
            <a:extLst>
              <a:ext uri="{FF2B5EF4-FFF2-40B4-BE49-F238E27FC236}">
                <a16:creationId xmlns:a16="http://schemas.microsoft.com/office/drawing/2014/main" id="{75360DCE-AF2A-124A-1290-897428A0AB23}"/>
              </a:ext>
            </a:extLst>
          </p:cNvPr>
          <p:cNvSpPr txBox="1"/>
          <p:nvPr/>
        </p:nvSpPr>
        <p:spPr>
          <a:xfrm>
            <a:off x="406400" y="231616"/>
            <a:ext cx="4572000" cy="477054"/>
          </a:xfrm>
          <a:prstGeom prst="rect">
            <a:avLst/>
          </a:prstGeom>
          <a:noFill/>
        </p:spPr>
        <p:txBody>
          <a:bodyPr wrap="square">
            <a:spAutoFit/>
          </a:bodyPr>
          <a:lstStyle/>
          <a:p>
            <a:r>
              <a:rPr lang="en-US" sz="2500" b="1" dirty="0">
                <a:latin typeface="Times New Roman" panose="02020603050405020304" pitchFamily="18" charset="0"/>
                <a:cs typeface="Times New Roman" panose="02020603050405020304" pitchFamily="18" charset="0"/>
              </a:rPr>
              <a:t>ARCHITECTURE:</a:t>
            </a:r>
            <a:endParaRPr lang="en-IN" sz="1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089271F-148F-ED3A-B53D-A3DDDEF490DE}"/>
              </a:ext>
            </a:extLst>
          </p:cNvPr>
          <p:cNvPicPr>
            <a:picLocks noChangeAspect="1"/>
          </p:cNvPicPr>
          <p:nvPr/>
        </p:nvPicPr>
        <p:blipFill>
          <a:blip r:embed="rId2"/>
          <a:stretch>
            <a:fillRect/>
          </a:stretch>
        </p:blipFill>
        <p:spPr>
          <a:xfrm>
            <a:off x="231515" y="1566608"/>
            <a:ext cx="8680970" cy="4542092"/>
          </a:xfrm>
          <a:prstGeom prst="rect">
            <a:avLst/>
          </a:prstGeom>
        </p:spPr>
      </p:pic>
    </p:spTree>
    <p:extLst>
      <p:ext uri="{BB962C8B-B14F-4D97-AF65-F5344CB8AC3E}">
        <p14:creationId xmlns:p14="http://schemas.microsoft.com/office/powerpoint/2010/main" val="2134117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209435-A771-D95B-4D51-7F119891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extBox 2">
            <a:extLst>
              <a:ext uri="{FF2B5EF4-FFF2-40B4-BE49-F238E27FC236}">
                <a16:creationId xmlns:a16="http://schemas.microsoft.com/office/drawing/2014/main" id="{586BD3E7-B040-D1E1-F8F5-688389075C68}"/>
              </a:ext>
            </a:extLst>
          </p:cNvPr>
          <p:cNvSpPr txBox="1"/>
          <p:nvPr/>
        </p:nvSpPr>
        <p:spPr>
          <a:xfrm>
            <a:off x="254000" y="194601"/>
            <a:ext cx="6832600" cy="692497"/>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MODULES:</a:t>
            </a:r>
          </a:p>
          <a:p>
            <a:endParaRPr lang="en-IN" b="1" dirty="0"/>
          </a:p>
        </p:txBody>
      </p:sp>
      <p:sp>
        <p:nvSpPr>
          <p:cNvPr id="5" name="TextBox 4">
            <a:extLst>
              <a:ext uri="{FF2B5EF4-FFF2-40B4-BE49-F238E27FC236}">
                <a16:creationId xmlns:a16="http://schemas.microsoft.com/office/drawing/2014/main" id="{6A585050-D0AE-7B03-F204-E7B3420B424F}"/>
              </a:ext>
            </a:extLst>
          </p:cNvPr>
          <p:cNvSpPr txBox="1"/>
          <p:nvPr/>
        </p:nvSpPr>
        <p:spPr>
          <a:xfrm>
            <a:off x="254000" y="1308087"/>
            <a:ext cx="8712200" cy="5355312"/>
          </a:xfrm>
          <a:prstGeom prst="rect">
            <a:avLst/>
          </a:prstGeom>
          <a:noFill/>
        </p:spPr>
        <p:txBody>
          <a:bodyPr wrap="square">
            <a:spAutoFit/>
          </a:bodyPr>
          <a:lstStyle/>
          <a:p>
            <a:r>
              <a:rPr lang="en-IN" sz="1900" b="1" dirty="0">
                <a:latin typeface="Times New Roman" panose="02020603050405020304" pitchFamily="18" charset="0"/>
                <a:cs typeface="Times New Roman" panose="02020603050405020304" pitchFamily="18" charset="0"/>
              </a:rPr>
              <a:t>Module 1: Resume Dataset Input and Document Processing</a:t>
            </a:r>
          </a:p>
          <a:p>
            <a:pPr algn="just"/>
            <a:r>
              <a:rPr lang="en-IN" sz="1900" dirty="0">
                <a:latin typeface="Times New Roman" panose="02020603050405020304" pitchFamily="18" charset="0"/>
                <a:cs typeface="Times New Roman" panose="02020603050405020304" pitchFamily="18" charset="0"/>
              </a:rPr>
              <a:t>Accept multiple resumes in PDF, DOCX, and TXT formats, along with the target Job Description (JD). Extract and normalize the resume text so that different document formats can be processed consistently.</a:t>
            </a:r>
          </a:p>
          <a:p>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a:t>
            </a:r>
            <a:r>
              <a:rPr lang="en-IN" sz="1900" dirty="0" err="1">
                <a:latin typeface="Times New Roman" panose="02020603050405020304" pitchFamily="18" charset="0"/>
                <a:cs typeface="Times New Roman" panose="02020603050405020304" pitchFamily="18" charset="0"/>
              </a:rPr>
              <a:t>pypdf</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pdfplumber</a:t>
            </a:r>
            <a:r>
              <a:rPr lang="en-IN" sz="1900" dirty="0">
                <a:latin typeface="Times New Roman" panose="02020603050405020304" pitchFamily="18" charset="0"/>
                <a:cs typeface="Times New Roman" panose="02020603050405020304" pitchFamily="18" charset="0"/>
              </a:rPr>
              <a:t>, python-docx</a:t>
            </a:r>
          </a:p>
          <a:p>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Module 2: Resume–Job Description Matching</a:t>
            </a:r>
          </a:p>
          <a:p>
            <a:pPr algn="just"/>
            <a:r>
              <a:rPr lang="en-IN" sz="1900" dirty="0">
                <a:latin typeface="Times New Roman" panose="02020603050405020304" pitchFamily="18" charset="0"/>
                <a:cs typeface="Times New Roman" panose="02020603050405020304" pitchFamily="18" charset="0"/>
              </a:rPr>
              <a:t>Compare resume content with job requirements using text-vector similarity. Use an LLM to extract matching skills, missing skills, match scores, and resume-improvement recommendations. Rank multiple resumes based on their estimated match scores.</a:t>
            </a:r>
          </a:p>
          <a:p>
            <a:pPr algn="just"/>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TF-IDF and/or Embeddings, </a:t>
            </a:r>
            <a:r>
              <a:rPr lang="en-IN" sz="1900" dirty="0" err="1">
                <a:latin typeface="Times New Roman" panose="02020603050405020304" pitchFamily="18" charset="0"/>
                <a:cs typeface="Times New Roman" panose="02020603050405020304" pitchFamily="18" charset="0"/>
              </a:rPr>
              <a:t>LangChain</a:t>
            </a:r>
            <a:r>
              <a:rPr lang="en-IN" sz="1900" dirty="0">
                <a:latin typeface="Times New Roman" panose="02020603050405020304" pitchFamily="18" charset="0"/>
                <a:cs typeface="Times New Roman" panose="02020603050405020304" pitchFamily="18" charset="0"/>
              </a:rPr>
              <a:t>, configured LLM provider (Gemini / </a:t>
            </a:r>
            <a:r>
              <a:rPr lang="en-IN" sz="1900" dirty="0" err="1">
                <a:latin typeface="Times New Roman" panose="02020603050405020304" pitchFamily="18" charset="0"/>
                <a:cs typeface="Times New Roman" panose="02020603050405020304" pitchFamily="18" charset="0"/>
              </a:rPr>
              <a:t>Groq</a:t>
            </a:r>
            <a:r>
              <a:rPr lang="en-IN" sz="1900" dirty="0">
                <a:latin typeface="Times New Roman" panose="02020603050405020304" pitchFamily="18" charset="0"/>
                <a:cs typeface="Times New Roman" panose="02020603050405020304" pitchFamily="18" charset="0"/>
              </a:rPr>
              <a:t> / OpenAI)</a:t>
            </a:r>
          </a:p>
          <a:p>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Module 3: Skill Gap Analysis</a:t>
            </a:r>
          </a:p>
          <a:p>
            <a:pPr algn="just"/>
            <a:r>
              <a:rPr lang="en-IN" sz="1900" dirty="0">
                <a:latin typeface="Times New Roman" panose="02020603050405020304" pitchFamily="18" charset="0"/>
                <a:cs typeface="Times New Roman" panose="02020603050405020304" pitchFamily="18" charset="0"/>
              </a:rPr>
              <a:t>Compare the candidate’s existing skills with the skills required by the job description. Identify missing skills using set difference and retrieve their prerequisites, categories, and estimated learning effort from the skill dataset.</a:t>
            </a:r>
          </a:p>
          <a:p>
            <a:pPr algn="just"/>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JSON, Skill Knowledge Graph / Prerequisite Data</a:t>
            </a:r>
          </a:p>
        </p:txBody>
      </p:sp>
    </p:spTree>
    <p:extLst>
      <p:ext uri="{BB962C8B-B14F-4D97-AF65-F5344CB8AC3E}">
        <p14:creationId xmlns:p14="http://schemas.microsoft.com/office/powerpoint/2010/main" val="817444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9F9D90-6441-7C27-3274-E65AAA905B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TextBox 3">
            <a:extLst>
              <a:ext uri="{FF2B5EF4-FFF2-40B4-BE49-F238E27FC236}">
                <a16:creationId xmlns:a16="http://schemas.microsoft.com/office/drawing/2014/main" id="{9644A542-C351-44FF-B5B9-8E7196D93C1C}"/>
              </a:ext>
            </a:extLst>
          </p:cNvPr>
          <p:cNvSpPr txBox="1"/>
          <p:nvPr/>
        </p:nvSpPr>
        <p:spPr>
          <a:xfrm>
            <a:off x="254000" y="194601"/>
            <a:ext cx="6832600" cy="692497"/>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MODULES:</a:t>
            </a:r>
          </a:p>
          <a:p>
            <a:endParaRPr lang="en-IN" b="1" dirty="0"/>
          </a:p>
        </p:txBody>
      </p:sp>
      <p:sp>
        <p:nvSpPr>
          <p:cNvPr id="6" name="TextBox 5">
            <a:extLst>
              <a:ext uri="{FF2B5EF4-FFF2-40B4-BE49-F238E27FC236}">
                <a16:creationId xmlns:a16="http://schemas.microsoft.com/office/drawing/2014/main" id="{68306061-73C5-2DED-661B-B5D8936807E0}"/>
              </a:ext>
            </a:extLst>
          </p:cNvPr>
          <p:cNvSpPr txBox="1"/>
          <p:nvPr/>
        </p:nvSpPr>
        <p:spPr>
          <a:xfrm>
            <a:off x="254000" y="1194078"/>
            <a:ext cx="8763000" cy="5355312"/>
          </a:xfrm>
          <a:prstGeom prst="rect">
            <a:avLst/>
          </a:prstGeom>
          <a:noFill/>
        </p:spPr>
        <p:txBody>
          <a:bodyPr wrap="square">
            <a:spAutoFit/>
          </a:bodyPr>
          <a:lstStyle/>
          <a:p>
            <a:pPr algn="just">
              <a:buNone/>
            </a:pPr>
            <a:r>
              <a:rPr lang="en-IN" sz="1900" b="1" dirty="0">
                <a:latin typeface="Times New Roman" panose="02020603050405020304" pitchFamily="18" charset="0"/>
                <a:cs typeface="Times New Roman" panose="02020603050405020304" pitchFamily="18" charset="0"/>
              </a:rPr>
              <a:t>Module 4: Learning Path and Study Duration Optimization</a:t>
            </a:r>
          </a:p>
          <a:p>
            <a:pPr algn="just">
              <a:buNone/>
            </a:pPr>
            <a:r>
              <a:rPr lang="en-IN" sz="1900" dirty="0">
                <a:latin typeface="Times New Roman" panose="02020603050405020304" pitchFamily="18" charset="0"/>
                <a:cs typeface="Times New Roman" panose="02020603050405020304" pitchFamily="18" charset="0"/>
              </a:rPr>
              <a:t>Generate a learning sequence that considers skill prerequisites and estimated study effort. Hill Climbing prioritizes skills based on estimated match-score improvement per study day, while A* Search explores paths using accumulated cost and a heuristic for the remaining effort.</a:t>
            </a:r>
          </a:p>
          <a:p>
            <a:pPr algn="just">
              <a:buNone/>
            </a:pPr>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Skill Dataset, Graph Search Algorithms</a:t>
            </a:r>
          </a:p>
          <a:p>
            <a:pPr algn="just">
              <a:buNone/>
            </a:pPr>
            <a:endParaRPr lang="en-IN" sz="1900" dirty="0">
              <a:latin typeface="Times New Roman" panose="02020603050405020304" pitchFamily="18" charset="0"/>
              <a:cs typeface="Times New Roman" panose="02020603050405020304" pitchFamily="18" charset="0"/>
            </a:endParaRPr>
          </a:p>
          <a:p>
            <a:pPr algn="just">
              <a:buNone/>
            </a:pPr>
            <a:r>
              <a:rPr lang="en-IN" sz="1900" b="1" dirty="0">
                <a:latin typeface="Times New Roman" panose="02020603050405020304" pitchFamily="18" charset="0"/>
                <a:cs typeface="Times New Roman" panose="02020603050405020304" pitchFamily="18" charset="0"/>
              </a:rPr>
              <a:t>Module 5: Interview Route Optimization</a:t>
            </a:r>
          </a:p>
          <a:p>
            <a:pPr algn="just">
              <a:buNone/>
            </a:pPr>
            <a:r>
              <a:rPr lang="en-IN" sz="1900" dirty="0">
                <a:latin typeface="Times New Roman" panose="02020603050405020304" pitchFamily="18" charset="0"/>
                <a:cs typeface="Times New Roman" panose="02020603050405020304" pitchFamily="18" charset="0"/>
              </a:rPr>
              <a:t>Calculate geographic distances between the candidate’s base location and interview venues using latitude and longitude. Find an efficient visiting order using different algorithms based on the number of locations.</a:t>
            </a:r>
          </a:p>
          <a:p>
            <a:pPr algn="just">
              <a:buNone/>
            </a:pPr>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Geographic Coordinates, </a:t>
            </a:r>
            <a:r>
              <a:rPr lang="en-IN" sz="1900" dirty="0" err="1">
                <a:latin typeface="Times New Roman" panose="02020603050405020304" pitchFamily="18" charset="0"/>
                <a:cs typeface="Times New Roman" panose="02020603050405020304" pitchFamily="18" charset="0"/>
              </a:rPr>
              <a:t>itertools</a:t>
            </a:r>
            <a:r>
              <a:rPr lang="en-IN" sz="1900" dirty="0">
                <a:latin typeface="Times New Roman" panose="02020603050405020304" pitchFamily="18" charset="0"/>
                <a:cs typeface="Times New Roman" panose="02020603050405020304" pitchFamily="18" charset="0"/>
              </a:rPr>
              <a:t>, Dynamic Programming</a:t>
            </a:r>
          </a:p>
          <a:p>
            <a:pPr algn="just">
              <a:buNone/>
            </a:pPr>
            <a:endParaRPr lang="en-IN" sz="1900" dirty="0">
              <a:latin typeface="Times New Roman" panose="02020603050405020304" pitchFamily="18" charset="0"/>
              <a:cs typeface="Times New Roman" panose="02020603050405020304" pitchFamily="18" charset="0"/>
            </a:endParaRPr>
          </a:p>
          <a:p>
            <a:pPr algn="just">
              <a:buNone/>
            </a:pPr>
            <a:r>
              <a:rPr lang="en-IN" sz="1900" b="1" dirty="0">
                <a:latin typeface="Times New Roman" panose="02020603050405020304" pitchFamily="18" charset="0"/>
                <a:cs typeface="Times New Roman" panose="02020603050405020304" pitchFamily="18" charset="0"/>
              </a:rPr>
              <a:t>Module 6: System Integration and Result Visualization</a:t>
            </a:r>
          </a:p>
          <a:p>
            <a:pPr algn="just">
              <a:buNone/>
            </a:pPr>
            <a:r>
              <a:rPr lang="en-IN" sz="1900" dirty="0">
                <a:latin typeface="Times New Roman" panose="02020603050405020304" pitchFamily="18" charset="0"/>
                <a:cs typeface="Times New Roman" panose="02020603050405020304" pitchFamily="18" charset="0"/>
              </a:rPr>
              <a:t>Integrate all three major functions into a single application. Display resume match scores, candidate rankings, missing skills, recommended learning paths, estimated study timelines, and optimized interview routes through a user-friendly interface.</a:t>
            </a:r>
          </a:p>
          <a:p>
            <a:pPr algn="just">
              <a:buNone/>
            </a:pPr>
            <a:r>
              <a:rPr lang="en-IN" sz="1900" b="1" dirty="0">
                <a:latin typeface="Times New Roman" panose="02020603050405020304" pitchFamily="18" charset="0"/>
                <a:cs typeface="Times New Roman" panose="02020603050405020304" pitchFamily="18" charset="0"/>
              </a:rPr>
              <a:t>Tech Stack: </a:t>
            </a:r>
            <a:r>
              <a:rPr lang="en-IN" sz="1900" dirty="0">
                <a:latin typeface="Times New Roman" panose="02020603050405020304" pitchFamily="18" charset="0"/>
                <a:cs typeface="Times New Roman" panose="02020603050405020304" pitchFamily="18" charset="0"/>
              </a:rPr>
              <a:t>Python, </a:t>
            </a:r>
            <a:r>
              <a:rPr lang="en-IN" sz="1900" dirty="0" err="1">
                <a:latin typeface="Times New Roman" panose="02020603050405020304" pitchFamily="18" charset="0"/>
                <a:cs typeface="Times New Roman" panose="02020603050405020304" pitchFamily="18" charset="0"/>
              </a:rPr>
              <a:t>Streamlit</a:t>
            </a:r>
            <a:r>
              <a:rPr lang="en-IN" sz="1900" dirty="0">
                <a:latin typeface="Times New Roman" panose="02020603050405020304" pitchFamily="18" charset="0"/>
                <a:cs typeface="Times New Roman" panose="02020603050405020304" pitchFamily="18" charset="0"/>
              </a:rPr>
              <a:t>, Interactive Map Component</a:t>
            </a:r>
          </a:p>
        </p:txBody>
      </p:sp>
    </p:spTree>
    <p:extLst>
      <p:ext uri="{BB962C8B-B14F-4D97-AF65-F5344CB8AC3E}">
        <p14:creationId xmlns:p14="http://schemas.microsoft.com/office/powerpoint/2010/main" val="160402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EEB0F-7EC4-5B7F-09AE-0D7CF7557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B3297-BC6B-9A4A-5540-8A1DB2988CD3}"/>
              </a:ext>
            </a:extLst>
          </p:cNvPr>
          <p:cNvSpPr>
            <a:spLocks noGrp="1"/>
          </p:cNvSpPr>
          <p:nvPr>
            <p:ph type="title"/>
          </p:nvPr>
        </p:nvSpPr>
        <p:spPr>
          <a:xfrm>
            <a:off x="507385" y="324480"/>
            <a:ext cx="7829345" cy="384721"/>
          </a:xfrm>
        </p:spPr>
        <p:txBody>
          <a:bodyPr/>
          <a:lstStyle/>
          <a:p>
            <a:r>
              <a:rPr lang="en-IN" sz="2500" dirty="0"/>
              <a:t>ALGORITHMS:</a:t>
            </a:r>
          </a:p>
        </p:txBody>
      </p:sp>
      <p:sp>
        <p:nvSpPr>
          <p:cNvPr id="5" name="Slide Number Placeholder 4">
            <a:extLst>
              <a:ext uri="{FF2B5EF4-FFF2-40B4-BE49-F238E27FC236}">
                <a16:creationId xmlns:a16="http://schemas.microsoft.com/office/drawing/2014/main" id="{9C576AEB-A561-4253-8CCD-83666BF52A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graphicFrame>
        <p:nvGraphicFramePr>
          <p:cNvPr id="3" name="Table 2">
            <a:extLst>
              <a:ext uri="{FF2B5EF4-FFF2-40B4-BE49-F238E27FC236}">
                <a16:creationId xmlns:a16="http://schemas.microsoft.com/office/drawing/2014/main" id="{32A24976-32EB-1ABA-6A0D-7ADD0F51E29C}"/>
              </a:ext>
            </a:extLst>
          </p:cNvPr>
          <p:cNvGraphicFramePr>
            <a:graphicFrameLocks noGrp="1"/>
          </p:cNvGraphicFramePr>
          <p:nvPr>
            <p:extLst>
              <p:ext uri="{D42A27DB-BD31-4B8C-83A1-F6EECF244321}">
                <p14:modId xmlns:p14="http://schemas.microsoft.com/office/powerpoint/2010/main" val="1345845415"/>
              </p:ext>
            </p:extLst>
          </p:nvPr>
        </p:nvGraphicFramePr>
        <p:xfrm>
          <a:off x="507385" y="1385066"/>
          <a:ext cx="8254998" cy="4992874"/>
        </p:xfrm>
        <a:graphic>
          <a:graphicData uri="http://schemas.openxmlformats.org/drawingml/2006/table">
            <a:tbl>
              <a:tblPr>
                <a:tableStyleId>{FE214308-F0E3-4687-BC59-15A1703D4593}</a:tableStyleId>
              </a:tblPr>
              <a:tblGrid>
                <a:gridCol w="2751666">
                  <a:extLst>
                    <a:ext uri="{9D8B030D-6E8A-4147-A177-3AD203B41FA5}">
                      <a16:colId xmlns:a16="http://schemas.microsoft.com/office/drawing/2014/main" val="119515826"/>
                    </a:ext>
                  </a:extLst>
                </a:gridCol>
                <a:gridCol w="2751666">
                  <a:extLst>
                    <a:ext uri="{9D8B030D-6E8A-4147-A177-3AD203B41FA5}">
                      <a16:colId xmlns:a16="http://schemas.microsoft.com/office/drawing/2014/main" val="1855195989"/>
                    </a:ext>
                  </a:extLst>
                </a:gridCol>
                <a:gridCol w="2751666">
                  <a:extLst>
                    <a:ext uri="{9D8B030D-6E8A-4147-A177-3AD203B41FA5}">
                      <a16:colId xmlns:a16="http://schemas.microsoft.com/office/drawing/2014/main" val="4050857006"/>
                    </a:ext>
                  </a:extLst>
                </a:gridCol>
              </a:tblGrid>
              <a:tr h="250357">
                <a:tc>
                  <a:txBody>
                    <a:bodyPr/>
                    <a:lstStyle/>
                    <a:p>
                      <a:pPr>
                        <a:buNone/>
                      </a:pPr>
                      <a:r>
                        <a:rPr lang="en-IN" sz="1400" b="1" dirty="0">
                          <a:latin typeface="Times New Roman" panose="02020603050405020304" pitchFamily="18" charset="0"/>
                          <a:cs typeface="Times New Roman" panose="02020603050405020304" pitchFamily="18" charset="0"/>
                        </a:rPr>
                        <a:t>Algorithm / Technique</a:t>
                      </a:r>
                    </a:p>
                  </a:txBody>
                  <a:tcPr marL="32395" marR="32395" marT="16197" marB="16197" anchor="ctr"/>
                </a:tc>
                <a:tc>
                  <a:txBody>
                    <a:bodyPr/>
                    <a:lstStyle/>
                    <a:p>
                      <a:pPr>
                        <a:buNone/>
                      </a:pPr>
                      <a:r>
                        <a:rPr lang="en-IN" sz="1400" b="1" dirty="0">
                          <a:latin typeface="Times New Roman" panose="02020603050405020304" pitchFamily="18" charset="0"/>
                          <a:cs typeface="Times New Roman" panose="02020603050405020304" pitchFamily="18" charset="0"/>
                        </a:rPr>
                        <a:t>Where It Is Used</a:t>
                      </a:r>
                    </a:p>
                  </a:txBody>
                  <a:tcPr marL="32395" marR="32395" marT="16197" marB="16197" anchor="ctr"/>
                </a:tc>
                <a:tc>
                  <a:txBody>
                    <a:bodyPr/>
                    <a:lstStyle/>
                    <a:p>
                      <a:pPr>
                        <a:buNone/>
                      </a:pPr>
                      <a:r>
                        <a:rPr lang="en-IN" sz="1400" b="1" dirty="0">
                          <a:latin typeface="Times New Roman" panose="02020603050405020304" pitchFamily="18" charset="0"/>
                          <a:cs typeface="Times New Roman" panose="02020603050405020304" pitchFamily="18" charset="0"/>
                        </a:rPr>
                        <a:t>Why It Is Used</a:t>
                      </a:r>
                    </a:p>
                  </a:txBody>
                  <a:tcPr marL="32395" marR="32395" marT="16197" marB="16197" anchor="ctr"/>
                </a:tc>
                <a:extLst>
                  <a:ext uri="{0D108BD9-81ED-4DB2-BD59-A6C34878D82A}">
                    <a16:rowId xmlns:a16="http://schemas.microsoft.com/office/drawing/2014/main" val="1536026961"/>
                  </a:ext>
                </a:extLst>
              </a:tr>
              <a:tr h="601707">
                <a:tc>
                  <a:txBody>
                    <a:bodyPr/>
                    <a:lstStyle/>
                    <a:p>
                      <a:pPr>
                        <a:buNone/>
                      </a:pPr>
                      <a:r>
                        <a:rPr lang="en-IN" sz="1400" dirty="0">
                          <a:latin typeface="Times New Roman" panose="02020603050405020304" pitchFamily="18" charset="0"/>
                          <a:cs typeface="Times New Roman" panose="02020603050405020304" pitchFamily="18" charset="0"/>
                        </a:rPr>
                        <a:t>TF-IDF / Embeddings</a:t>
                      </a:r>
                    </a:p>
                  </a:txBody>
                  <a:tcPr marL="32395" marR="32395" marT="16197" marB="16197" anchor="ctr"/>
                </a:tc>
                <a:tc>
                  <a:txBody>
                    <a:bodyPr/>
                    <a:lstStyle/>
                    <a:p>
                      <a:pPr>
                        <a:buNone/>
                      </a:pPr>
                      <a:r>
                        <a:rPr lang="en-IN" sz="1400" dirty="0">
                          <a:latin typeface="Times New Roman" panose="02020603050405020304" pitchFamily="18" charset="0"/>
                          <a:cs typeface="Times New Roman" panose="02020603050405020304" pitchFamily="18" charset="0"/>
                        </a:rPr>
                        <a:t>Resume matching</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Converts resume and job-description text into numerical vectors.</a:t>
                      </a:r>
                    </a:p>
                  </a:txBody>
                  <a:tcPr marL="32395" marR="32395" marT="16197" marB="16197" anchor="ctr"/>
                </a:tc>
                <a:extLst>
                  <a:ext uri="{0D108BD9-81ED-4DB2-BD59-A6C34878D82A}">
                    <a16:rowId xmlns:a16="http://schemas.microsoft.com/office/drawing/2014/main" val="3437845829"/>
                  </a:ext>
                </a:extLst>
              </a:tr>
              <a:tr h="601707">
                <a:tc>
                  <a:txBody>
                    <a:bodyPr/>
                    <a:lstStyle/>
                    <a:p>
                      <a:pPr>
                        <a:buNone/>
                      </a:pPr>
                      <a:r>
                        <a:rPr lang="en-IN" sz="1400">
                          <a:latin typeface="Times New Roman" panose="02020603050405020304" pitchFamily="18" charset="0"/>
                          <a:cs typeface="Times New Roman" panose="02020603050405020304" pitchFamily="18" charset="0"/>
                        </a:rPr>
                        <a:t>Cosine Similarity</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Resume matching</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Measures similarity between resume and job-description vectors.</a:t>
                      </a:r>
                    </a:p>
                  </a:txBody>
                  <a:tcPr marL="32395" marR="32395" marT="16197" marB="16197" anchor="ctr"/>
                </a:tc>
                <a:extLst>
                  <a:ext uri="{0D108BD9-81ED-4DB2-BD59-A6C34878D82A}">
                    <a16:rowId xmlns:a16="http://schemas.microsoft.com/office/drawing/2014/main" val="3460969844"/>
                  </a:ext>
                </a:extLst>
              </a:tr>
              <a:tr h="601707">
                <a:tc>
                  <a:txBody>
                    <a:bodyPr/>
                    <a:lstStyle/>
                    <a:p>
                      <a:pPr>
                        <a:buNone/>
                      </a:pPr>
                      <a:r>
                        <a:rPr lang="en-IN" sz="1400" dirty="0">
                          <a:latin typeface="Times New Roman" panose="02020603050405020304" pitchFamily="18" charset="0"/>
                          <a:cs typeface="Times New Roman" panose="02020603050405020304" pitchFamily="18" charset="0"/>
                        </a:rPr>
                        <a:t>LLM-Based Extraction</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Resume analysis</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Extracts matching skills, missing skills, and improvement suggestions.</a:t>
                      </a:r>
                    </a:p>
                  </a:txBody>
                  <a:tcPr marL="32395" marR="32395" marT="16197" marB="16197" anchor="ctr"/>
                </a:tc>
                <a:extLst>
                  <a:ext uri="{0D108BD9-81ED-4DB2-BD59-A6C34878D82A}">
                    <a16:rowId xmlns:a16="http://schemas.microsoft.com/office/drawing/2014/main" val="627331422"/>
                  </a:ext>
                </a:extLst>
              </a:tr>
              <a:tr h="601707">
                <a:tc>
                  <a:txBody>
                    <a:bodyPr/>
                    <a:lstStyle/>
                    <a:p>
                      <a:pPr>
                        <a:buNone/>
                      </a:pPr>
                      <a:r>
                        <a:rPr lang="en-IN" sz="1400">
                          <a:latin typeface="Times New Roman" panose="02020603050405020304" pitchFamily="18" charset="0"/>
                          <a:cs typeface="Times New Roman" panose="02020603050405020304" pitchFamily="18" charset="0"/>
                        </a:rPr>
                        <a:t>Set Difference</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Skill gap analysis</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Identifies skills required by the job but missing from the candidate’s skill set.</a:t>
                      </a:r>
                    </a:p>
                  </a:txBody>
                  <a:tcPr marL="32395" marR="32395" marT="16197" marB="16197" anchor="ctr"/>
                </a:tc>
                <a:extLst>
                  <a:ext uri="{0D108BD9-81ED-4DB2-BD59-A6C34878D82A}">
                    <a16:rowId xmlns:a16="http://schemas.microsoft.com/office/drawing/2014/main" val="4248122789"/>
                  </a:ext>
                </a:extLst>
              </a:tr>
              <a:tr h="601707">
                <a:tc>
                  <a:txBody>
                    <a:bodyPr/>
                    <a:lstStyle/>
                    <a:p>
                      <a:pPr>
                        <a:buNone/>
                      </a:pPr>
                      <a:r>
                        <a:rPr lang="en-IN" sz="1400">
                          <a:latin typeface="Times New Roman" panose="02020603050405020304" pitchFamily="18" charset="0"/>
                          <a:cs typeface="Times New Roman" panose="02020603050405020304" pitchFamily="18" charset="0"/>
                        </a:rPr>
                        <a:t>Prerequisite Traversal</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Learning path planning</a:t>
                      </a:r>
                    </a:p>
                  </a:txBody>
                  <a:tcPr marL="32395" marR="32395" marT="16197" marB="16197" anchor="ctr"/>
                </a:tc>
                <a:tc>
                  <a:txBody>
                    <a:bodyPr/>
                    <a:lstStyle/>
                    <a:p>
                      <a:pPr>
                        <a:buNone/>
                      </a:pPr>
                      <a:r>
                        <a:rPr lang="en-IN" sz="1400" dirty="0">
                          <a:latin typeface="Times New Roman" panose="02020603050405020304" pitchFamily="18" charset="0"/>
                          <a:cs typeface="Times New Roman" panose="02020603050405020304" pitchFamily="18" charset="0"/>
                        </a:rPr>
                        <a:t>Identifies foundational skills required before learning advanced skills.</a:t>
                      </a:r>
                    </a:p>
                  </a:txBody>
                  <a:tcPr marL="32395" marR="32395" marT="16197" marB="16197" anchor="ctr"/>
                </a:tc>
                <a:extLst>
                  <a:ext uri="{0D108BD9-81ED-4DB2-BD59-A6C34878D82A}">
                    <a16:rowId xmlns:a16="http://schemas.microsoft.com/office/drawing/2014/main" val="3044341431"/>
                  </a:ext>
                </a:extLst>
              </a:tr>
              <a:tr h="777381">
                <a:tc>
                  <a:txBody>
                    <a:bodyPr/>
                    <a:lstStyle/>
                    <a:p>
                      <a:pPr>
                        <a:buNone/>
                      </a:pPr>
                      <a:r>
                        <a:rPr lang="en-IN" sz="1400">
                          <a:latin typeface="Times New Roman" panose="02020603050405020304" pitchFamily="18" charset="0"/>
                          <a:cs typeface="Times New Roman" panose="02020603050405020304" pitchFamily="18" charset="0"/>
                        </a:rPr>
                        <a:t>Hill Climbing</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Learning path optimization</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Greedily selects the currently learnable skill with the highest estimated match improvement per study day.</a:t>
                      </a:r>
                    </a:p>
                  </a:txBody>
                  <a:tcPr marL="32395" marR="32395" marT="16197" marB="16197" anchor="ctr"/>
                </a:tc>
                <a:extLst>
                  <a:ext uri="{0D108BD9-81ED-4DB2-BD59-A6C34878D82A}">
                    <a16:rowId xmlns:a16="http://schemas.microsoft.com/office/drawing/2014/main" val="1572587899"/>
                  </a:ext>
                </a:extLst>
              </a:tr>
              <a:tr h="777381">
                <a:tc>
                  <a:txBody>
                    <a:bodyPr/>
                    <a:lstStyle/>
                    <a:p>
                      <a:pPr>
                        <a:buNone/>
                      </a:pPr>
                      <a:r>
                        <a:rPr lang="en-IN" sz="1400">
                          <a:latin typeface="Times New Roman" panose="02020603050405020304" pitchFamily="18" charset="0"/>
                          <a:cs typeface="Times New Roman" panose="02020603050405020304" pitchFamily="18" charset="0"/>
                        </a:rPr>
                        <a:t>A* Search</a:t>
                      </a:r>
                    </a:p>
                  </a:txBody>
                  <a:tcPr marL="32395" marR="32395" marT="16197" marB="16197" anchor="ctr"/>
                </a:tc>
                <a:tc>
                  <a:txBody>
                    <a:bodyPr/>
                    <a:lstStyle/>
                    <a:p>
                      <a:pPr>
                        <a:buNone/>
                      </a:pPr>
                      <a:r>
                        <a:rPr lang="en-IN" sz="1400">
                          <a:latin typeface="Times New Roman" panose="02020603050405020304" pitchFamily="18" charset="0"/>
                          <a:cs typeface="Times New Roman" panose="02020603050405020304" pitchFamily="18" charset="0"/>
                        </a:rPr>
                        <a:t>Learning path optimization</a:t>
                      </a:r>
                    </a:p>
                  </a:txBody>
                  <a:tcPr marL="32395" marR="32395" marT="16197" marB="16197" anchor="ctr"/>
                </a:tc>
                <a:tc>
                  <a:txBody>
                    <a:bodyPr/>
                    <a:lstStyle/>
                    <a:p>
                      <a:pPr>
                        <a:buNone/>
                      </a:pPr>
                      <a:r>
                        <a:rPr lang="en-IN" sz="1400" dirty="0">
                          <a:latin typeface="Times New Roman" panose="02020603050405020304" pitchFamily="18" charset="0"/>
                          <a:cs typeface="Times New Roman" panose="02020603050405020304" pitchFamily="18" charset="0"/>
                        </a:rPr>
                        <a:t>Searches for a low-cost learning sequence using accumulated effort and estimated remaining effort.</a:t>
                      </a:r>
                    </a:p>
                  </a:txBody>
                  <a:tcPr marL="32395" marR="32395" marT="16197" marB="16197" anchor="ctr"/>
                </a:tc>
                <a:extLst>
                  <a:ext uri="{0D108BD9-81ED-4DB2-BD59-A6C34878D82A}">
                    <a16:rowId xmlns:a16="http://schemas.microsoft.com/office/drawing/2014/main" val="2708087186"/>
                  </a:ext>
                </a:extLst>
              </a:tr>
            </a:tbl>
          </a:graphicData>
        </a:graphic>
      </p:graphicFrame>
    </p:spTree>
    <p:extLst>
      <p:ext uri="{BB962C8B-B14F-4D97-AF65-F5344CB8AC3E}">
        <p14:creationId xmlns:p14="http://schemas.microsoft.com/office/powerpoint/2010/main" val="499218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49CE34-7F29-F9FF-318A-C91ED96B51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aphicFrame>
        <p:nvGraphicFramePr>
          <p:cNvPr id="7" name="Table 6">
            <a:extLst>
              <a:ext uri="{FF2B5EF4-FFF2-40B4-BE49-F238E27FC236}">
                <a16:creationId xmlns:a16="http://schemas.microsoft.com/office/drawing/2014/main" id="{50D3EFA0-412C-E51A-A869-98A37B0A8F14}"/>
              </a:ext>
            </a:extLst>
          </p:cNvPr>
          <p:cNvGraphicFramePr>
            <a:graphicFrameLocks noGrp="1"/>
          </p:cNvGraphicFramePr>
          <p:nvPr>
            <p:extLst>
              <p:ext uri="{D42A27DB-BD31-4B8C-83A1-F6EECF244321}">
                <p14:modId xmlns:p14="http://schemas.microsoft.com/office/powerpoint/2010/main" val="2242053308"/>
              </p:ext>
            </p:extLst>
          </p:nvPr>
        </p:nvGraphicFramePr>
        <p:xfrm>
          <a:off x="647700" y="1371600"/>
          <a:ext cx="7899399" cy="4800600"/>
        </p:xfrm>
        <a:graphic>
          <a:graphicData uri="http://schemas.openxmlformats.org/drawingml/2006/table">
            <a:tbl>
              <a:tblPr>
                <a:tableStyleId>{FE214308-F0E3-4687-BC59-15A1703D4593}</a:tableStyleId>
              </a:tblPr>
              <a:tblGrid>
                <a:gridCol w="2633133">
                  <a:extLst>
                    <a:ext uri="{9D8B030D-6E8A-4147-A177-3AD203B41FA5}">
                      <a16:colId xmlns:a16="http://schemas.microsoft.com/office/drawing/2014/main" val="3700806078"/>
                    </a:ext>
                  </a:extLst>
                </a:gridCol>
                <a:gridCol w="2633133">
                  <a:extLst>
                    <a:ext uri="{9D8B030D-6E8A-4147-A177-3AD203B41FA5}">
                      <a16:colId xmlns:a16="http://schemas.microsoft.com/office/drawing/2014/main" val="3634055118"/>
                    </a:ext>
                  </a:extLst>
                </a:gridCol>
                <a:gridCol w="2633133">
                  <a:extLst>
                    <a:ext uri="{9D8B030D-6E8A-4147-A177-3AD203B41FA5}">
                      <a16:colId xmlns:a16="http://schemas.microsoft.com/office/drawing/2014/main" val="917368413"/>
                    </a:ext>
                  </a:extLst>
                </a:gridCol>
              </a:tblGrid>
              <a:tr h="399487">
                <a:tc>
                  <a:txBody>
                    <a:bodyPr/>
                    <a:lstStyle/>
                    <a:p>
                      <a:pPr>
                        <a:buNone/>
                      </a:pPr>
                      <a:r>
                        <a:rPr lang="en-IN" sz="1400" b="1" dirty="0">
                          <a:latin typeface="Times New Roman" panose="02020603050405020304" pitchFamily="18" charset="0"/>
                          <a:cs typeface="Times New Roman" panose="02020603050405020304" pitchFamily="18" charset="0"/>
                        </a:rPr>
                        <a:t>Algorithm / Technique</a:t>
                      </a:r>
                    </a:p>
                  </a:txBody>
                  <a:tcPr marL="51832" marR="51832" marT="25916" marB="25916" anchor="ctr"/>
                </a:tc>
                <a:tc>
                  <a:txBody>
                    <a:bodyPr/>
                    <a:lstStyle/>
                    <a:p>
                      <a:pPr>
                        <a:buNone/>
                      </a:pPr>
                      <a:r>
                        <a:rPr lang="en-IN" sz="1400" b="1" dirty="0">
                          <a:latin typeface="Times New Roman" panose="02020603050405020304" pitchFamily="18" charset="0"/>
                          <a:cs typeface="Times New Roman" panose="02020603050405020304" pitchFamily="18" charset="0"/>
                        </a:rPr>
                        <a:t>Where It Is Used</a:t>
                      </a:r>
                    </a:p>
                  </a:txBody>
                  <a:tcPr marL="51832" marR="51832" marT="25916" marB="25916" anchor="ctr"/>
                </a:tc>
                <a:tc>
                  <a:txBody>
                    <a:bodyPr/>
                    <a:lstStyle/>
                    <a:p>
                      <a:pPr>
                        <a:buNone/>
                      </a:pPr>
                      <a:r>
                        <a:rPr lang="en-IN" sz="1400" b="1" dirty="0">
                          <a:latin typeface="Times New Roman" panose="02020603050405020304" pitchFamily="18" charset="0"/>
                          <a:cs typeface="Times New Roman" panose="02020603050405020304" pitchFamily="18" charset="0"/>
                        </a:rPr>
                        <a:t>Why It Is Used</a:t>
                      </a:r>
                    </a:p>
                  </a:txBody>
                  <a:tcPr marL="51832" marR="51832" marT="25916" marB="25916" anchor="ctr"/>
                </a:tc>
                <a:extLst>
                  <a:ext uri="{0D108BD9-81ED-4DB2-BD59-A6C34878D82A}">
                    <a16:rowId xmlns:a16="http://schemas.microsoft.com/office/drawing/2014/main" val="4232867903"/>
                  </a:ext>
                </a:extLst>
              </a:tr>
              <a:tr h="960120">
                <a:tc>
                  <a:txBody>
                    <a:bodyPr/>
                    <a:lstStyle/>
                    <a:p>
                      <a:pPr>
                        <a:buNone/>
                      </a:pPr>
                      <a:r>
                        <a:rPr lang="en-IN" sz="1400" dirty="0">
                          <a:latin typeface="Times New Roman" panose="02020603050405020304" pitchFamily="18" charset="0"/>
                          <a:cs typeface="Times New Roman" panose="02020603050405020304" pitchFamily="18" charset="0"/>
                        </a:rPr>
                        <a:t>Haversine Formula</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Geographic distance calculation</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Calculates approximate distances between locations using latitude and longitude.</a:t>
                      </a:r>
                    </a:p>
                  </a:txBody>
                  <a:tcPr marL="51832" marR="51832" marT="25916" marB="25916" anchor="ctr"/>
                </a:tc>
                <a:extLst>
                  <a:ext uri="{0D108BD9-81ED-4DB2-BD59-A6C34878D82A}">
                    <a16:rowId xmlns:a16="http://schemas.microsoft.com/office/drawing/2014/main" val="3866286516"/>
                  </a:ext>
                </a:extLst>
              </a:tr>
              <a:tr h="960120">
                <a:tc>
                  <a:txBody>
                    <a:bodyPr/>
                    <a:lstStyle/>
                    <a:p>
                      <a:pPr>
                        <a:buNone/>
                      </a:pPr>
                      <a:r>
                        <a:rPr lang="en-IN" sz="1400">
                          <a:latin typeface="Times New Roman" panose="02020603050405020304" pitchFamily="18" charset="0"/>
                          <a:cs typeface="Times New Roman" panose="02020603050405020304" pitchFamily="18" charset="0"/>
                        </a:rPr>
                        <a:t>Nearest Neighbor</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Route optimization</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Quickly constructs a route by selecting the nearest unvisited location.</a:t>
                      </a:r>
                    </a:p>
                  </a:txBody>
                  <a:tcPr marL="51832" marR="51832" marT="25916" marB="25916" anchor="ctr"/>
                </a:tc>
                <a:extLst>
                  <a:ext uri="{0D108BD9-81ED-4DB2-BD59-A6C34878D82A}">
                    <a16:rowId xmlns:a16="http://schemas.microsoft.com/office/drawing/2014/main" val="1855919334"/>
                  </a:ext>
                </a:extLst>
              </a:tr>
              <a:tr h="960120">
                <a:tc>
                  <a:txBody>
                    <a:bodyPr/>
                    <a:lstStyle/>
                    <a:p>
                      <a:pPr>
                        <a:buNone/>
                      </a:pPr>
                      <a:r>
                        <a:rPr lang="en-IN" sz="1400">
                          <a:latin typeface="Times New Roman" panose="02020603050405020304" pitchFamily="18" charset="0"/>
                          <a:cs typeface="Times New Roman" panose="02020603050405020304" pitchFamily="18" charset="0"/>
                        </a:rPr>
                        <a:t>Brute Force</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Route optimization</a:t>
                      </a:r>
                    </a:p>
                  </a:txBody>
                  <a:tcPr marL="51832" marR="51832" marT="25916" marB="25916" anchor="ctr"/>
                </a:tc>
                <a:tc>
                  <a:txBody>
                    <a:bodyPr/>
                    <a:lstStyle/>
                    <a:p>
                      <a:pPr>
                        <a:buNone/>
                      </a:pPr>
                      <a:r>
                        <a:rPr lang="en-IN" sz="1400">
                          <a:latin typeface="Times New Roman" panose="02020603050405020304" pitchFamily="18" charset="0"/>
                          <a:cs typeface="Times New Roman" panose="02020603050405020304" pitchFamily="18" charset="0"/>
                        </a:rPr>
                        <a:t>Evaluates all possible visit orders to find the shortest route for a small number of locations.</a:t>
                      </a:r>
                    </a:p>
                  </a:txBody>
                  <a:tcPr marL="51832" marR="51832" marT="25916" marB="25916" anchor="ctr"/>
                </a:tc>
                <a:extLst>
                  <a:ext uri="{0D108BD9-81ED-4DB2-BD59-A6C34878D82A}">
                    <a16:rowId xmlns:a16="http://schemas.microsoft.com/office/drawing/2014/main" val="2283971893"/>
                  </a:ext>
                </a:extLst>
              </a:tr>
              <a:tr h="1520753">
                <a:tc>
                  <a:txBody>
                    <a:bodyPr/>
                    <a:lstStyle/>
                    <a:p>
                      <a:pPr>
                        <a:buNone/>
                      </a:pPr>
                      <a:r>
                        <a:rPr lang="en-IN" sz="1400">
                          <a:latin typeface="Times New Roman" panose="02020603050405020304" pitchFamily="18" charset="0"/>
                          <a:cs typeface="Times New Roman" panose="02020603050405020304" pitchFamily="18" charset="0"/>
                        </a:rPr>
                        <a:t>Held–Karp Dynamic Programming</a:t>
                      </a:r>
                    </a:p>
                  </a:txBody>
                  <a:tcPr marL="51832" marR="51832" marT="25916" marB="25916" anchor="ctr"/>
                </a:tc>
                <a:tc>
                  <a:txBody>
                    <a:bodyPr/>
                    <a:lstStyle/>
                    <a:p>
                      <a:pPr>
                        <a:buNone/>
                      </a:pPr>
                      <a:r>
                        <a:rPr lang="en-IN" sz="1400" dirty="0">
                          <a:latin typeface="Times New Roman" panose="02020603050405020304" pitchFamily="18" charset="0"/>
                          <a:cs typeface="Times New Roman" panose="02020603050405020304" pitchFamily="18" charset="0"/>
                        </a:rPr>
                        <a:t>Route optimization</a:t>
                      </a:r>
                    </a:p>
                  </a:txBody>
                  <a:tcPr marL="51832" marR="51832" marT="25916" marB="25916" anchor="ctr"/>
                </a:tc>
                <a:tc>
                  <a:txBody>
                    <a:bodyPr/>
                    <a:lstStyle/>
                    <a:p>
                      <a:pPr>
                        <a:buNone/>
                      </a:pPr>
                      <a:r>
                        <a:rPr lang="en-IN" sz="1400" dirty="0">
                          <a:latin typeface="Times New Roman" panose="02020603050405020304" pitchFamily="18" charset="0"/>
                          <a:cs typeface="Times New Roman" panose="02020603050405020304" pitchFamily="18" charset="0"/>
                        </a:rPr>
                        <a:t>Reuses solutions to smaller subproblems to find an optimal route with less computational effort than brute force for moderate-sized inputs.</a:t>
                      </a:r>
                    </a:p>
                  </a:txBody>
                  <a:tcPr marL="51832" marR="51832" marT="25916" marB="25916" anchor="ctr"/>
                </a:tc>
                <a:extLst>
                  <a:ext uri="{0D108BD9-81ED-4DB2-BD59-A6C34878D82A}">
                    <a16:rowId xmlns:a16="http://schemas.microsoft.com/office/drawing/2014/main" val="2298914078"/>
                  </a:ext>
                </a:extLst>
              </a:tr>
            </a:tbl>
          </a:graphicData>
        </a:graphic>
      </p:graphicFrame>
      <p:sp>
        <p:nvSpPr>
          <p:cNvPr id="8" name="Title 1">
            <a:extLst>
              <a:ext uri="{FF2B5EF4-FFF2-40B4-BE49-F238E27FC236}">
                <a16:creationId xmlns:a16="http://schemas.microsoft.com/office/drawing/2014/main" id="{54D72818-7FB5-005B-D39B-CB116E7C111E}"/>
              </a:ext>
            </a:extLst>
          </p:cNvPr>
          <p:cNvSpPr>
            <a:spLocks noGrp="1"/>
          </p:cNvSpPr>
          <p:nvPr>
            <p:ph type="title"/>
          </p:nvPr>
        </p:nvSpPr>
        <p:spPr>
          <a:xfrm>
            <a:off x="507385" y="324480"/>
            <a:ext cx="7829345" cy="384721"/>
          </a:xfrm>
        </p:spPr>
        <p:txBody>
          <a:bodyPr/>
          <a:lstStyle/>
          <a:p>
            <a:r>
              <a:rPr lang="en-IN" sz="2500" dirty="0"/>
              <a:t>ALGORITHMS:</a:t>
            </a:r>
          </a:p>
        </p:txBody>
      </p:sp>
    </p:spTree>
    <p:extLst>
      <p:ext uri="{BB962C8B-B14F-4D97-AF65-F5344CB8AC3E}">
        <p14:creationId xmlns:p14="http://schemas.microsoft.com/office/powerpoint/2010/main" val="2042080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21BF-C34E-0FA1-76F6-54B667F068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029371-1079-46B8-F032-F07F904C60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8" name="Title 1">
            <a:extLst>
              <a:ext uri="{FF2B5EF4-FFF2-40B4-BE49-F238E27FC236}">
                <a16:creationId xmlns:a16="http://schemas.microsoft.com/office/drawing/2014/main" id="{22A28CF1-C4E6-725F-22CD-041A8CA8D377}"/>
              </a:ext>
            </a:extLst>
          </p:cNvPr>
          <p:cNvSpPr>
            <a:spLocks noGrp="1"/>
          </p:cNvSpPr>
          <p:nvPr>
            <p:ph type="title"/>
          </p:nvPr>
        </p:nvSpPr>
        <p:spPr>
          <a:xfrm>
            <a:off x="507385" y="324480"/>
            <a:ext cx="7829345" cy="384721"/>
          </a:xfrm>
        </p:spPr>
        <p:txBody>
          <a:bodyPr/>
          <a:lstStyle/>
          <a:p>
            <a:r>
              <a:rPr lang="en-IN" sz="2500" dirty="0"/>
              <a:t>SCREENSHOTS:RESUME UPLOAD</a:t>
            </a:r>
          </a:p>
        </p:txBody>
      </p:sp>
      <p:pic>
        <p:nvPicPr>
          <p:cNvPr id="10" name="Picture 9">
            <a:extLst>
              <a:ext uri="{FF2B5EF4-FFF2-40B4-BE49-F238E27FC236}">
                <a16:creationId xmlns:a16="http://schemas.microsoft.com/office/drawing/2014/main" id="{56A317A8-E376-2704-624F-3166DC2429C6}"/>
              </a:ext>
            </a:extLst>
          </p:cNvPr>
          <p:cNvPicPr>
            <a:picLocks noChangeAspect="1"/>
          </p:cNvPicPr>
          <p:nvPr/>
        </p:nvPicPr>
        <p:blipFill>
          <a:blip r:embed="rId2"/>
          <a:stretch>
            <a:fillRect/>
          </a:stretch>
        </p:blipFill>
        <p:spPr>
          <a:xfrm>
            <a:off x="114300" y="1406210"/>
            <a:ext cx="8915400" cy="4578980"/>
          </a:xfrm>
          <a:prstGeom prst="rect">
            <a:avLst/>
          </a:prstGeom>
        </p:spPr>
      </p:pic>
    </p:spTree>
    <p:extLst>
      <p:ext uri="{BB962C8B-B14F-4D97-AF65-F5344CB8AC3E}">
        <p14:creationId xmlns:p14="http://schemas.microsoft.com/office/powerpoint/2010/main" val="912967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E9E421-2411-E097-B039-7B9812C8BE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8" name="Picture 7">
            <a:extLst>
              <a:ext uri="{FF2B5EF4-FFF2-40B4-BE49-F238E27FC236}">
                <a16:creationId xmlns:a16="http://schemas.microsoft.com/office/drawing/2014/main" id="{6E88ACB2-1161-DCCA-2A96-E29EB71E4D12}"/>
              </a:ext>
            </a:extLst>
          </p:cNvPr>
          <p:cNvPicPr>
            <a:picLocks noChangeAspect="1"/>
          </p:cNvPicPr>
          <p:nvPr/>
        </p:nvPicPr>
        <p:blipFill>
          <a:blip r:embed="rId2"/>
          <a:stretch>
            <a:fillRect/>
          </a:stretch>
        </p:blipFill>
        <p:spPr>
          <a:xfrm>
            <a:off x="119691" y="1459723"/>
            <a:ext cx="8904618" cy="4280678"/>
          </a:xfrm>
          <a:prstGeom prst="rect">
            <a:avLst/>
          </a:prstGeom>
        </p:spPr>
      </p:pic>
      <p:sp>
        <p:nvSpPr>
          <p:cNvPr id="9" name="Title 1">
            <a:extLst>
              <a:ext uri="{FF2B5EF4-FFF2-40B4-BE49-F238E27FC236}">
                <a16:creationId xmlns:a16="http://schemas.microsoft.com/office/drawing/2014/main" id="{9EF29CF8-B713-C78D-8CA9-838861343E87}"/>
              </a:ext>
            </a:extLst>
          </p:cNvPr>
          <p:cNvSpPr>
            <a:spLocks noGrp="1"/>
          </p:cNvSpPr>
          <p:nvPr>
            <p:ph type="title"/>
          </p:nvPr>
        </p:nvSpPr>
        <p:spPr>
          <a:xfrm>
            <a:off x="507385" y="324480"/>
            <a:ext cx="7829345" cy="384721"/>
          </a:xfrm>
        </p:spPr>
        <p:txBody>
          <a:bodyPr/>
          <a:lstStyle/>
          <a:p>
            <a:r>
              <a:rPr lang="en-US" sz="2500" dirty="0"/>
              <a:t>DATA LOADED</a:t>
            </a:r>
            <a:endParaRPr lang="en-IN" sz="2500" dirty="0"/>
          </a:p>
        </p:txBody>
      </p:sp>
    </p:spTree>
    <p:extLst>
      <p:ext uri="{BB962C8B-B14F-4D97-AF65-F5344CB8AC3E}">
        <p14:creationId xmlns:p14="http://schemas.microsoft.com/office/powerpoint/2010/main" val="4143629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E3E9C5D-C505-6D72-D709-7285F38FB2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7" name="Picture 6">
            <a:extLst>
              <a:ext uri="{FF2B5EF4-FFF2-40B4-BE49-F238E27FC236}">
                <a16:creationId xmlns:a16="http://schemas.microsoft.com/office/drawing/2014/main" id="{EA515B46-1D53-B2F7-6C7A-64DDF3A893F5}"/>
              </a:ext>
            </a:extLst>
          </p:cNvPr>
          <p:cNvPicPr>
            <a:picLocks noChangeAspect="1"/>
          </p:cNvPicPr>
          <p:nvPr/>
        </p:nvPicPr>
        <p:blipFill>
          <a:blip r:embed="rId2"/>
          <a:stretch>
            <a:fillRect/>
          </a:stretch>
        </p:blipFill>
        <p:spPr>
          <a:xfrm>
            <a:off x="95250" y="1376027"/>
            <a:ext cx="8953500" cy="4664746"/>
          </a:xfrm>
          <a:prstGeom prst="rect">
            <a:avLst/>
          </a:prstGeom>
        </p:spPr>
      </p:pic>
      <p:sp>
        <p:nvSpPr>
          <p:cNvPr id="8" name="Title 1">
            <a:extLst>
              <a:ext uri="{FF2B5EF4-FFF2-40B4-BE49-F238E27FC236}">
                <a16:creationId xmlns:a16="http://schemas.microsoft.com/office/drawing/2014/main" id="{6C2698BC-EBBB-BFFE-D586-0E21FF16AB7A}"/>
              </a:ext>
            </a:extLst>
          </p:cNvPr>
          <p:cNvSpPr>
            <a:spLocks noGrp="1"/>
          </p:cNvSpPr>
          <p:nvPr>
            <p:ph type="title"/>
          </p:nvPr>
        </p:nvSpPr>
        <p:spPr>
          <a:xfrm>
            <a:off x="507385" y="324480"/>
            <a:ext cx="7829345" cy="384721"/>
          </a:xfrm>
        </p:spPr>
        <p:txBody>
          <a:bodyPr/>
          <a:lstStyle/>
          <a:p>
            <a:r>
              <a:rPr lang="en-US" sz="2500" dirty="0"/>
              <a:t>JD MATCER:</a:t>
            </a:r>
            <a:endParaRPr lang="en-IN" sz="2500" dirty="0"/>
          </a:p>
        </p:txBody>
      </p:sp>
    </p:spTree>
    <p:extLst>
      <p:ext uri="{BB962C8B-B14F-4D97-AF65-F5344CB8AC3E}">
        <p14:creationId xmlns:p14="http://schemas.microsoft.com/office/powerpoint/2010/main" val="2457271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81B2C7C-D0DA-BE56-9A87-838615481F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7" name="Picture 6">
            <a:extLst>
              <a:ext uri="{FF2B5EF4-FFF2-40B4-BE49-F238E27FC236}">
                <a16:creationId xmlns:a16="http://schemas.microsoft.com/office/drawing/2014/main" id="{39E419A6-62CC-4D43-E271-CD2A0DAC0409}"/>
              </a:ext>
            </a:extLst>
          </p:cNvPr>
          <p:cNvPicPr>
            <a:picLocks noChangeAspect="1"/>
          </p:cNvPicPr>
          <p:nvPr/>
        </p:nvPicPr>
        <p:blipFill>
          <a:blip r:embed="rId2"/>
          <a:stretch>
            <a:fillRect/>
          </a:stretch>
        </p:blipFill>
        <p:spPr>
          <a:xfrm>
            <a:off x="50800" y="1364803"/>
            <a:ext cx="9042400" cy="4636394"/>
          </a:xfrm>
          <a:prstGeom prst="rect">
            <a:avLst/>
          </a:prstGeom>
        </p:spPr>
      </p:pic>
      <p:sp>
        <p:nvSpPr>
          <p:cNvPr id="8" name="Title 1">
            <a:extLst>
              <a:ext uri="{FF2B5EF4-FFF2-40B4-BE49-F238E27FC236}">
                <a16:creationId xmlns:a16="http://schemas.microsoft.com/office/drawing/2014/main" id="{45AEE34E-4C7B-48DD-26E4-AFD47AD5A73B}"/>
              </a:ext>
            </a:extLst>
          </p:cNvPr>
          <p:cNvSpPr>
            <a:spLocks noGrp="1"/>
          </p:cNvSpPr>
          <p:nvPr>
            <p:ph type="title"/>
          </p:nvPr>
        </p:nvSpPr>
        <p:spPr>
          <a:xfrm>
            <a:off x="507385" y="324480"/>
            <a:ext cx="7829345" cy="384721"/>
          </a:xfrm>
        </p:spPr>
        <p:txBody>
          <a:bodyPr/>
          <a:lstStyle/>
          <a:p>
            <a:r>
              <a:rPr lang="en-US" sz="2500" dirty="0"/>
              <a:t>MATCHING SCORE</a:t>
            </a:r>
            <a:endParaRPr lang="en-IN" sz="2500" dirty="0"/>
          </a:p>
        </p:txBody>
      </p:sp>
    </p:spTree>
    <p:extLst>
      <p:ext uri="{BB962C8B-B14F-4D97-AF65-F5344CB8AC3E}">
        <p14:creationId xmlns:p14="http://schemas.microsoft.com/office/powerpoint/2010/main" val="2317363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6EDE131-71FB-35DE-CF42-34BA1BA3D7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7" name="Picture 6">
            <a:extLst>
              <a:ext uri="{FF2B5EF4-FFF2-40B4-BE49-F238E27FC236}">
                <a16:creationId xmlns:a16="http://schemas.microsoft.com/office/drawing/2014/main" id="{7593AB6C-C249-92E1-5FAA-E0F8B30184F2}"/>
              </a:ext>
            </a:extLst>
          </p:cNvPr>
          <p:cNvPicPr>
            <a:picLocks noChangeAspect="1"/>
          </p:cNvPicPr>
          <p:nvPr/>
        </p:nvPicPr>
        <p:blipFill>
          <a:blip r:embed="rId2"/>
          <a:stretch>
            <a:fillRect/>
          </a:stretch>
        </p:blipFill>
        <p:spPr>
          <a:xfrm>
            <a:off x="107950" y="1466951"/>
            <a:ext cx="8928100" cy="4501054"/>
          </a:xfrm>
          <a:prstGeom prst="rect">
            <a:avLst/>
          </a:prstGeom>
        </p:spPr>
      </p:pic>
      <p:sp>
        <p:nvSpPr>
          <p:cNvPr id="8" name="Title 1">
            <a:extLst>
              <a:ext uri="{FF2B5EF4-FFF2-40B4-BE49-F238E27FC236}">
                <a16:creationId xmlns:a16="http://schemas.microsoft.com/office/drawing/2014/main" id="{2AC09944-1621-EAC6-5138-E0538284D5E7}"/>
              </a:ext>
            </a:extLst>
          </p:cNvPr>
          <p:cNvSpPr txBox="1">
            <a:spLocks/>
          </p:cNvSpPr>
          <p:nvPr/>
        </p:nvSpPr>
        <p:spPr>
          <a:xfrm>
            <a:off x="456585" y="4006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SUGGESTOR:</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468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196813-67AD-54E5-7087-DED525FF1F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4" name="Picture 3">
            <a:extLst>
              <a:ext uri="{FF2B5EF4-FFF2-40B4-BE49-F238E27FC236}">
                <a16:creationId xmlns:a16="http://schemas.microsoft.com/office/drawing/2014/main" id="{145003F5-DB81-8861-9D3C-7328F5C2CAFD}"/>
              </a:ext>
            </a:extLst>
          </p:cNvPr>
          <p:cNvPicPr>
            <a:picLocks noChangeAspect="1"/>
          </p:cNvPicPr>
          <p:nvPr/>
        </p:nvPicPr>
        <p:blipFill>
          <a:blip r:embed="rId2"/>
          <a:stretch>
            <a:fillRect/>
          </a:stretch>
        </p:blipFill>
        <p:spPr>
          <a:xfrm>
            <a:off x="74051" y="1514371"/>
            <a:ext cx="8995897" cy="4441930"/>
          </a:xfrm>
          <a:prstGeom prst="rect">
            <a:avLst/>
          </a:prstGeom>
        </p:spPr>
      </p:pic>
      <p:sp>
        <p:nvSpPr>
          <p:cNvPr id="5" name="Title 1">
            <a:extLst>
              <a:ext uri="{FF2B5EF4-FFF2-40B4-BE49-F238E27FC236}">
                <a16:creationId xmlns:a16="http://schemas.microsoft.com/office/drawing/2014/main" id="{6D301C70-2041-ED25-7F90-E769F71984FA}"/>
              </a:ext>
            </a:extLst>
          </p:cNvPr>
          <p:cNvSpPr txBox="1">
            <a:spLocks/>
          </p:cNvSpPr>
          <p:nvPr/>
        </p:nvSpPr>
        <p:spPr>
          <a:xfrm>
            <a:off x="507385" y="3244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CHATBOT</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447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E7743F-1A21-1D8E-4341-6575670276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4" name="Picture 3">
            <a:extLst>
              <a:ext uri="{FF2B5EF4-FFF2-40B4-BE49-F238E27FC236}">
                <a16:creationId xmlns:a16="http://schemas.microsoft.com/office/drawing/2014/main" id="{8C43E3EC-CC71-7C4D-92FE-E18312066806}"/>
              </a:ext>
            </a:extLst>
          </p:cNvPr>
          <p:cNvPicPr>
            <a:picLocks noChangeAspect="1"/>
          </p:cNvPicPr>
          <p:nvPr/>
        </p:nvPicPr>
        <p:blipFill>
          <a:blip r:embed="rId2"/>
          <a:stretch>
            <a:fillRect/>
          </a:stretch>
        </p:blipFill>
        <p:spPr>
          <a:xfrm>
            <a:off x="44430" y="1505348"/>
            <a:ext cx="9055140" cy="4489052"/>
          </a:xfrm>
          <a:prstGeom prst="rect">
            <a:avLst/>
          </a:prstGeom>
        </p:spPr>
      </p:pic>
      <p:sp>
        <p:nvSpPr>
          <p:cNvPr id="5" name="Title 1">
            <a:extLst>
              <a:ext uri="{FF2B5EF4-FFF2-40B4-BE49-F238E27FC236}">
                <a16:creationId xmlns:a16="http://schemas.microsoft.com/office/drawing/2014/main" id="{25074A61-B2AD-2E1C-6AF4-1608905979AA}"/>
              </a:ext>
            </a:extLst>
          </p:cNvPr>
          <p:cNvSpPr txBox="1">
            <a:spLocks/>
          </p:cNvSpPr>
          <p:nvPr/>
        </p:nvSpPr>
        <p:spPr>
          <a:xfrm>
            <a:off x="507385" y="3244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GAPS FINDER AND OPTIMAL STUDY PLAN</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721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B41FBA-41F9-B098-E324-D98390EF4A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4" name="Picture 3">
            <a:extLst>
              <a:ext uri="{FF2B5EF4-FFF2-40B4-BE49-F238E27FC236}">
                <a16:creationId xmlns:a16="http://schemas.microsoft.com/office/drawing/2014/main" id="{C9E8A381-FBEC-B778-9E5A-FC8281B13439}"/>
              </a:ext>
            </a:extLst>
          </p:cNvPr>
          <p:cNvPicPr>
            <a:picLocks noChangeAspect="1"/>
          </p:cNvPicPr>
          <p:nvPr/>
        </p:nvPicPr>
        <p:blipFill>
          <a:blip r:embed="rId2"/>
          <a:stretch>
            <a:fillRect/>
          </a:stretch>
        </p:blipFill>
        <p:spPr>
          <a:xfrm>
            <a:off x="114858" y="1471940"/>
            <a:ext cx="8914283" cy="4484360"/>
          </a:xfrm>
          <a:prstGeom prst="rect">
            <a:avLst/>
          </a:prstGeom>
        </p:spPr>
      </p:pic>
      <p:sp>
        <p:nvSpPr>
          <p:cNvPr id="7" name="Title 1">
            <a:extLst>
              <a:ext uri="{FF2B5EF4-FFF2-40B4-BE49-F238E27FC236}">
                <a16:creationId xmlns:a16="http://schemas.microsoft.com/office/drawing/2014/main" id="{06F16A80-F39F-F220-1621-13104FBBCC94}"/>
              </a:ext>
            </a:extLst>
          </p:cNvPr>
          <p:cNvSpPr txBox="1">
            <a:spLocks/>
          </p:cNvSpPr>
          <p:nvPr/>
        </p:nvSpPr>
        <p:spPr>
          <a:xfrm>
            <a:off x="507385" y="3244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PATH EXPLORED</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440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528624-F6C5-FCBE-1172-B6DF417B21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D4155652-E65F-10AB-3084-217CBB939051}"/>
              </a:ext>
            </a:extLst>
          </p:cNvPr>
          <p:cNvPicPr>
            <a:picLocks noChangeAspect="1"/>
          </p:cNvPicPr>
          <p:nvPr/>
        </p:nvPicPr>
        <p:blipFill>
          <a:blip r:embed="rId2"/>
          <a:stretch>
            <a:fillRect/>
          </a:stretch>
        </p:blipFill>
        <p:spPr>
          <a:xfrm>
            <a:off x="127000" y="1485900"/>
            <a:ext cx="8890000" cy="4445000"/>
          </a:xfrm>
          <a:prstGeom prst="rect">
            <a:avLst/>
          </a:prstGeom>
        </p:spPr>
      </p:pic>
      <p:sp>
        <p:nvSpPr>
          <p:cNvPr id="5" name="Title 1">
            <a:extLst>
              <a:ext uri="{FF2B5EF4-FFF2-40B4-BE49-F238E27FC236}">
                <a16:creationId xmlns:a16="http://schemas.microsoft.com/office/drawing/2014/main" id="{9B8CE8C0-612C-8396-528E-AF0B4376402A}"/>
              </a:ext>
            </a:extLst>
          </p:cNvPr>
          <p:cNvSpPr txBox="1">
            <a:spLocks/>
          </p:cNvSpPr>
          <p:nvPr/>
        </p:nvSpPr>
        <p:spPr>
          <a:xfrm>
            <a:off x="507385" y="3244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INTERVIEW OPTIMIZED ROUTE FINDER:</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046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BE3BEC-9E40-24BD-7EF1-FF1225D59C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4" name="Picture 3">
            <a:extLst>
              <a:ext uri="{FF2B5EF4-FFF2-40B4-BE49-F238E27FC236}">
                <a16:creationId xmlns:a16="http://schemas.microsoft.com/office/drawing/2014/main" id="{8842FB74-B5DD-A566-70E5-65F18DD9EBB7}"/>
              </a:ext>
            </a:extLst>
          </p:cNvPr>
          <p:cNvPicPr>
            <a:picLocks noChangeAspect="1"/>
          </p:cNvPicPr>
          <p:nvPr/>
        </p:nvPicPr>
        <p:blipFill>
          <a:blip r:embed="rId2"/>
          <a:stretch>
            <a:fillRect/>
          </a:stretch>
        </p:blipFill>
        <p:spPr>
          <a:xfrm>
            <a:off x="313538" y="1570769"/>
            <a:ext cx="8516923" cy="4131532"/>
          </a:xfrm>
          <a:prstGeom prst="rect">
            <a:avLst/>
          </a:prstGeom>
        </p:spPr>
      </p:pic>
      <p:sp>
        <p:nvSpPr>
          <p:cNvPr id="5" name="Title 1">
            <a:extLst>
              <a:ext uri="{FF2B5EF4-FFF2-40B4-BE49-F238E27FC236}">
                <a16:creationId xmlns:a16="http://schemas.microsoft.com/office/drawing/2014/main" id="{51940F1B-F44D-6BC4-61EC-F8F881ADE3FC}"/>
              </a:ext>
            </a:extLst>
          </p:cNvPr>
          <p:cNvSpPr txBox="1">
            <a:spLocks/>
          </p:cNvSpPr>
          <p:nvPr/>
        </p:nvSpPr>
        <p:spPr>
          <a:xfrm>
            <a:off x="507385" y="324480"/>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latin typeface="Times New Roman" panose="02020603050405020304" pitchFamily="18" charset="0"/>
                <a:cs typeface="Times New Roman" panose="02020603050405020304" pitchFamily="18" charset="0"/>
              </a:rPr>
              <a:t>MAP :</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0677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2E2A69-EC67-98CF-3947-1C3C7DEEFF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3" name="Title 1">
            <a:extLst>
              <a:ext uri="{FF2B5EF4-FFF2-40B4-BE49-F238E27FC236}">
                <a16:creationId xmlns:a16="http://schemas.microsoft.com/office/drawing/2014/main" id="{B34772C4-829F-33A7-8601-7088124D1EC0}"/>
              </a:ext>
            </a:extLst>
          </p:cNvPr>
          <p:cNvSpPr txBox="1">
            <a:spLocks/>
          </p:cNvSpPr>
          <p:nvPr/>
        </p:nvSpPr>
        <p:spPr>
          <a:xfrm>
            <a:off x="2453107" y="3044279"/>
            <a:ext cx="7829345" cy="3847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400" b="1" dirty="0">
                <a:latin typeface="Times New Roman" panose="02020603050405020304" pitchFamily="18" charset="0"/>
                <a:cs typeface="Times New Roman" panose="02020603050405020304" pitchFamily="18" charset="0"/>
              </a:rPr>
              <a:t>THANK YOU …</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9929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897</Words>
  <Application>Microsoft Office PowerPoint</Application>
  <PresentationFormat>On-screen Show (4:3)</PresentationFormat>
  <Paragraphs>137</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CAREERROUTE AI: INTELLIGENT RESUME MATCHING, SKILL GAP LEARNING AND INTERVIEW ROUTE OPTIMIZE</vt:lpstr>
      <vt:lpstr>INTRODUCTION</vt:lpstr>
      <vt:lpstr>PowerPoint Presentation</vt:lpstr>
      <vt:lpstr>PowerPoint Presentation</vt:lpstr>
      <vt:lpstr>PowerPoint Presentation</vt:lpstr>
      <vt:lpstr>PowerPoint Presentation</vt:lpstr>
      <vt:lpstr>ALGORITHMS:</vt:lpstr>
      <vt:lpstr>ALGORITHMS:</vt:lpstr>
      <vt:lpstr>SCREENSHOTS:RESUME UPLOAD</vt:lpstr>
      <vt:lpstr>DATA LOADED</vt:lpstr>
      <vt:lpstr>JD MATCER:</vt:lpstr>
      <vt:lpstr>MATCHING SCORE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sangeetha mariammal</dc:creator>
  <cp:lastModifiedBy>Harini Loganathan</cp:lastModifiedBy>
  <cp:revision>48</cp:revision>
  <dcterms:modified xsi:type="dcterms:W3CDTF">2026-10-14T05:45:12Z</dcterms:modified>
</cp:coreProperties>
</file>